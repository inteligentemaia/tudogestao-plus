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60" r:id="rId9"/>
    <p:sldId id="267" r:id="rId10"/>
    <p:sldId id="268" r:id="rId11"/>
    <p:sldId id="269" r:id="rId12"/>
    <p:sldId id="270" r:id="rId13"/>
    <p:sldId id="261" r:id="rId14"/>
    <p:sldId id="271" r:id="rId15"/>
    <p:sldId id="272" r:id="rId16"/>
    <p:sldId id="273" r:id="rId17"/>
    <p:sldId id="262" r:id="rId18"/>
    <p:sldId id="284" r:id="rId19"/>
    <p:sldId id="285" r:id="rId20"/>
    <p:sldId id="286" r:id="rId21"/>
    <p:sldId id="287" r:id="rId22"/>
    <p:sldId id="288" r:id="rId23"/>
    <p:sldId id="263" r:id="rId24"/>
    <p:sldId id="277" r:id="rId25"/>
    <p:sldId id="278" r:id="rId26"/>
    <p:sldId id="279" r:id="rId27"/>
    <p:sldId id="264" r:id="rId28"/>
    <p:sldId id="280" r:id="rId29"/>
    <p:sldId id="281" r:id="rId30"/>
    <p:sldId id="282" r:id="rId31"/>
    <p:sldId id="283" r:id="rId32"/>
    <p:sldId id="265" r:id="rId33"/>
    <p:sldId id="266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Oliveira" userId="6c6f73d737779a12" providerId="LiveId" clId="{F2DCAE3F-80C8-44C0-BBC6-1D0348D447EB}"/>
    <pc:docChg chg="delSld">
      <pc:chgData name="Michael Oliveira" userId="6c6f73d737779a12" providerId="LiveId" clId="{F2DCAE3F-80C8-44C0-BBC6-1D0348D447EB}" dt="2025-12-09T01:13:59.520" v="0" actId="47"/>
      <pc:docMkLst>
        <pc:docMk/>
      </pc:docMkLst>
      <pc:sldChg chg="del">
        <pc:chgData name="Michael Oliveira" userId="6c6f73d737779a12" providerId="LiveId" clId="{F2DCAE3F-80C8-44C0-BBC6-1D0348D447EB}" dt="2025-12-09T01:13:59.520" v="0" actId="47"/>
        <pc:sldMkLst>
          <pc:docMk/>
          <pc:sldMk cId="64855150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36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TudoGestão+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1D1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PROJETO INTEGRADOR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0" y="3383280"/>
            <a:ext cx="548640" cy="36576"/>
          </a:xfrm>
          <a:prstGeom prst="rect">
            <a:avLst/>
          </a:prstGeom>
          <a:solidFill>
            <a:srgbClr val="0071E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conversa sobre tecnologia, desafios e aprendizados</a:t>
            </a:r>
            <a:endParaRPr lang="en-US" sz="12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574E85D-8ADF-1085-231A-C06401386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234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PROJETO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completo para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pequenas e médias empresas.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clientes, produtos, vendas, financeiro e nota fiscal.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em uma solução robusta e profissional.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19349" y="3497581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19349" y="395478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3497581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77640" y="395478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91348" y="3497581"/>
            <a:ext cx="25733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891349" y="395478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1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CA4D9E8-B533-32D9-704D-8DDF560AB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EQUIPE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pessoas. 7 especialidades.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Michael Santos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Lead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78892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1228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8346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3774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78892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28346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Manager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Cardeal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8346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&amp; Designer</a:t>
            </a:r>
            <a:endParaRPr lang="en-US" sz="1000" dirty="0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D2BA1F0D-2BDE-89AF-A035-44DB28F66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963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 • Backend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espinha dorsal do sistema.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DESENVOLVEU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principais, estrutura do banco com Prisma ORM, lógica de Clientes, Produtos, Categorias e Fornecedores.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MAIOR DESAFIO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de CPF/CNPJ duplicado considerando criação, edição e multi-empresa.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DICAS PARA 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Entenda HTTP e status codes  •  Domine async/await  •  Valide TUDO no backend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2DDCF42-11DC-8D9C-457F-BBB3A39A9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7C6C6AF6-CF1C-FFC4-AB5A-A9004438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6258"/>
            <a:ext cx="6553200" cy="105815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C121464-8CA2-21DD-5524-0E7BE73F3FFE}"/>
              </a:ext>
            </a:extLst>
          </p:cNvPr>
          <p:cNvSpPr/>
          <p:nvPr/>
        </p:nvSpPr>
        <p:spPr>
          <a:xfrm>
            <a:off x="640080" y="4963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C3B608A-C79F-3192-C4A4-760B7C5423BD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 • Backend Core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CEB53E5-7003-35C7-D3EC-37D5635E97EE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5506E50-72C3-DF35-235D-4D12388F7D28}"/>
              </a:ext>
            </a:extLst>
          </p:cNvPr>
          <p:cNvSpPr/>
          <p:nvPr/>
        </p:nvSpPr>
        <p:spPr>
          <a:xfrm>
            <a:off x="640080" y="1188720"/>
            <a:ext cx="25211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clientes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B66BAD7-F827-2938-0BF9-88634B2F2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78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4BEA4622-5003-D1F8-84CE-32CA47F8982E}"/>
              </a:ext>
            </a:extLst>
          </p:cNvPr>
          <p:cNvSpPr/>
          <p:nvPr/>
        </p:nvSpPr>
        <p:spPr>
          <a:xfrm>
            <a:off x="640080" y="4963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45D3C6A-DD19-897B-E6F0-218B4E1193F3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 • Backend Core</a:t>
            </a:r>
            <a:endParaRPr lang="en-US" sz="10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685C893-6CE0-8DC0-62E9-35D2119B5550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</a:t>
            </a:r>
            <a:endParaRPr lang="en-US" sz="2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5F049A2-EFB0-86F3-5500-993C78DE964C}"/>
              </a:ext>
            </a:extLst>
          </p:cNvPr>
          <p:cNvSpPr/>
          <p:nvPr/>
        </p:nvSpPr>
        <p:spPr>
          <a:xfrm>
            <a:off x="640080" y="1188720"/>
            <a:ext cx="25211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2600" dirty="0"/>
          </a:p>
        </p:txBody>
      </p:sp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C8F8352D-6B2E-A9D1-767B-467D00BA1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68278"/>
            <a:ext cx="6152606" cy="1585572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AFE50C9D-C714-A0A5-2C7A-B794B346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4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21A050-4904-4EB6-BCC5-F0CAE7A52D6E}"/>
              </a:ext>
            </a:extLst>
          </p:cNvPr>
          <p:cNvSpPr/>
          <p:nvPr/>
        </p:nvSpPr>
        <p:spPr>
          <a:xfrm>
            <a:off x="640080" y="4963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E0DEA6-2B3A-8EA2-C140-B0F316104D78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 • Backend Core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1A0CAE-5057-EF96-A5AF-E9F0B27CCF0B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CBFDFA-1F18-390C-20CC-57BC074C510C}"/>
              </a:ext>
            </a:extLst>
          </p:cNvPr>
          <p:cNvSpPr/>
          <p:nvPr/>
        </p:nvSpPr>
        <p:spPr>
          <a:xfrm>
            <a:off x="640080" y="1188720"/>
            <a:ext cx="25211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</a:t>
            </a:r>
            <a:endParaRPr lang="en-US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7EAC82-D110-4409-8B2F-A741096A53E7}"/>
              </a:ext>
            </a:extLst>
          </p:cNvPr>
          <p:cNvSpPr txBox="1"/>
          <p:nvPr/>
        </p:nvSpPr>
        <p:spPr>
          <a:xfrm>
            <a:off x="1097280" y="2096589"/>
            <a:ext cx="4572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backend/controllers/customer.controller.js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backend/controllers/product.controller.js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backend/controllers/category.controller.js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backend/controllers/supplier.controller.js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73325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 • 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bonitas e funcionais.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DESENVOLVEU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com cards gradiente, páginas de Clientes, Produtos e Vendas. Integração com API usando Axios.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DESTAQUE TÉCNICO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Interceptors do Axios para token JWT automático. React Hot Toast para notificações elegantes.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0584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CONCEITOS FUNDAMENTAIS DO REACT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useState para estados  •  useEffect para efeitos  •  Componentização para reuso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BF4932C-5982-5D4E-639C-B203F1BA2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E99B81CA-F5D0-32A5-BB3B-F807C7D4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529" y="2693852"/>
            <a:ext cx="5037909" cy="2225507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63DA8E7-C617-45C3-DB1A-768C6CAF5C18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B7B7258-D9B2-AAC3-14CB-81B513FAFA53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 • Frontend</a:t>
            </a:r>
            <a:endParaRPr lang="en-US" sz="1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A972CF5-D31D-EF99-44EE-DD8A3EB98BF6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2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C5BBAFC-589E-FBD5-B0D6-231B66A65C61}"/>
              </a:ext>
            </a:extLst>
          </p:cNvPr>
          <p:cNvSpPr/>
          <p:nvPr/>
        </p:nvSpPr>
        <p:spPr>
          <a:xfrm>
            <a:off x="64008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Card de Vendas</a:t>
            </a:r>
            <a:endParaRPr lang="en-US" sz="2600" dirty="0"/>
          </a:p>
        </p:txBody>
      </p:sp>
      <p:pic>
        <p:nvPicPr>
          <p:cNvPr id="11" name="Imagem 10" descr="Interface gráfica do usuário, Aplicativo, Padrão do plano de fundo&#10;&#10;O conteúdo gerado por IA pode estar incorreto.">
            <a:extLst>
              <a:ext uri="{FF2B5EF4-FFF2-40B4-BE49-F238E27FC236}">
                <a16:creationId xmlns:a16="http://schemas.microsoft.com/office/drawing/2014/main" id="{2A9BF86C-9715-4442-B08C-D8918A3E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99" y="1724390"/>
            <a:ext cx="6828971" cy="847360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47884B4E-8645-C805-5632-4DF9E9C5E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486" y="177237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51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5170A8-9E8B-8FD0-3185-2A5E051E9655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728440-EBE5-0B65-2F86-D28163284285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 • Frontend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392F59-749B-8B0C-B762-383E048482B7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62569E-EFD8-115C-5B3E-2F0B9048FEF8}"/>
              </a:ext>
            </a:extLst>
          </p:cNvPr>
          <p:cNvSpPr/>
          <p:nvPr/>
        </p:nvSpPr>
        <p:spPr>
          <a:xfrm>
            <a:off x="64008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API</a:t>
            </a:r>
            <a:endParaRPr lang="en-US" sz="26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E4753B21-33B1-88FC-4377-8289F6842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94908"/>
            <a:ext cx="6850743" cy="21420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5B2B3D-B78F-CD4F-5A29-F7B871555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20"/>
          <a:stretch>
            <a:fillRect/>
          </a:stretch>
        </p:blipFill>
        <p:spPr>
          <a:xfrm>
            <a:off x="1097280" y="4319287"/>
            <a:ext cx="6850743" cy="458453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4F44760-1883-2982-8310-ED1A20D07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777" y="29435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53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3984735-159F-D175-EEE5-177F4A46A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43" y="2146134"/>
            <a:ext cx="6074229" cy="1211449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3B4A451-1D4B-DE02-6EED-9074ACAF5FBE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6B25D5-4048-AC44-A4A3-82B942E1089C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 • Frontend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BAAC576-FCAF-05C4-AE46-B0DD77A62C78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87E2954-8E81-7D4C-6991-2BDB47E5577B}"/>
              </a:ext>
            </a:extLst>
          </p:cNvPr>
          <p:cNvSpPr/>
          <p:nvPr/>
        </p:nvSpPr>
        <p:spPr>
          <a:xfrm>
            <a:off x="64008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React Hot Toast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18D9631-A9B5-CCB1-EA9C-E8A8C8872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94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6ACB45-A994-45AB-481D-D8181772380E}"/>
              </a:ext>
            </a:extLst>
          </p:cNvPr>
          <p:cNvSpPr txBox="1"/>
          <p:nvPr/>
        </p:nvSpPr>
        <p:spPr>
          <a:xfrm>
            <a:off x="529045" y="2011680"/>
            <a:ext cx="625710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frontend/src/pages/dashboard/Dashboard.jsx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36000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frontend/src/pages/customers/Customers.jsx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36000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frontend/src/pages/products/Products.jsx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36000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frontend/src/components/Navbar.jsx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36000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frontend/src/components/Sidebar.jsx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2D80A80-B012-B4BF-DE47-4FB1ADFAF36E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EEC7A87-CDD0-4A2B-0B15-D4500138E597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 • Frontend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7F46325-040A-DE1A-0A3F-049025267E0E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9F3241-FF30-D4AB-75AC-EC7FDE8DEE84}"/>
              </a:ext>
            </a:extLst>
          </p:cNvPr>
          <p:cNvSpPr/>
          <p:nvPr/>
        </p:nvSpPr>
        <p:spPr>
          <a:xfrm>
            <a:off x="640080" y="1188720"/>
            <a:ext cx="45981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Arquivos do Felipe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281A3A5-9650-DB4E-2632-427C51CDA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50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 • Full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Services: especialistas em tarefas.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DESENVOLVEU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Service para relatórios, Excel Service para exportação, Audit Service para logs. Páginas de Produtos e Fornecedores.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SERVICES?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Reusabilidade entre controllers. Testabilidade isolada. Organização clara de responsabilidades.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DICA PARA FULL STACK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Entenda o fluxo: Usuário clica → Frontend requisita → Backend valida → Service executa → Retorna ao usuário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EF06E67-8A5D-63F5-8151-A73DD7D9F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3C3355-6CFB-E07F-368F-863EC2945184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D35574-5426-4F62-98D2-D958BDE35E3C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 • Full Stack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66882F-B443-1C03-B423-CA8AD8312F61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F1251C-6BD0-F172-974B-15421CF39640}"/>
              </a:ext>
            </a:extLst>
          </p:cNvPr>
          <p:cNvSpPr/>
          <p:nvPr/>
        </p:nvSpPr>
        <p:spPr>
          <a:xfrm>
            <a:off x="640080" y="1188720"/>
            <a:ext cx="1861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 PDF</a:t>
            </a:r>
            <a:endParaRPr lang="en-US" sz="26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5DD91E7E-A20E-07AA-1D87-D5AFDF42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366" y="1920240"/>
            <a:ext cx="5035731" cy="223985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217F874-C9BC-CFBC-ACB1-E47F6212D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315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8CD4A2-0505-F0FF-1A5C-84DDF4A63378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6A5302-CDCE-5315-9666-55FE33973096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 • Full Stack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B72FE4-3B0D-4502-EB0A-BB255F579A6F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4751BF-E935-9348-8F23-0576D315BC84}"/>
              </a:ext>
            </a:extLst>
          </p:cNvPr>
          <p:cNvSpPr/>
          <p:nvPr/>
        </p:nvSpPr>
        <p:spPr>
          <a:xfrm>
            <a:off x="640080" y="1188720"/>
            <a:ext cx="45066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de categorias</a:t>
            </a:r>
            <a:endParaRPr lang="en-US" sz="26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C9C29820-0C6B-E86A-F7C6-1EC7F8FD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131" y="1920240"/>
            <a:ext cx="5599738" cy="232206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665E7B8-803B-2F01-92BC-B3E250CC7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79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19CFBE-8848-1A0F-CE0E-5FC96EF76F33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941D5C-D708-FA12-F4A6-917274FA3180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 • Full Stack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5F1F21-F34D-1D00-C033-6BB6FC65A730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273084-48E6-8FEF-F909-8C70FF4662EB}"/>
              </a:ext>
            </a:extLst>
          </p:cNvPr>
          <p:cNvSpPr/>
          <p:nvPr/>
        </p:nvSpPr>
        <p:spPr>
          <a:xfrm>
            <a:off x="640080" y="1188720"/>
            <a:ext cx="45066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</a:t>
            </a:r>
            <a:endParaRPr lang="en-US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4DD98A-0DA3-FF67-C541-3D97AD3C0DD2}"/>
              </a:ext>
            </a:extLst>
          </p:cNvPr>
          <p:cNvSpPr txBox="1"/>
          <p:nvPr/>
        </p:nvSpPr>
        <p:spPr>
          <a:xfrm>
            <a:off x="868680" y="1749828"/>
            <a:ext cx="45720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backend/controllers/product.controller.js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backend/controllers/supplier.controller.js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backend/controllers/employee.controller.js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</a:t>
            </a:r>
            <a:r>
              <a:rPr lang="pt-BR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services</a:t>
            </a: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/pdf.service.js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</a:t>
            </a:r>
            <a:r>
              <a:rPr lang="pt-BR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services</a:t>
            </a: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/excel.service.js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backend/</a:t>
            </a:r>
            <a:r>
              <a:rPr lang="pt-BR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services</a:t>
            </a: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/audit.service.js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frontend/src/pages/products/Products.jsx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frontend/src/pages/suppliers/</a:t>
            </a:r>
            <a:r>
              <a:rPr lang="pt-BR" b="0" i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onaspace Neon"/>
              </a:rPr>
              <a:t>Suppliers.jsx</a:t>
            </a:r>
            <a:endParaRPr lang="pt-BR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654D111-1E85-A123-AD0E-2A089B8DC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22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críticos. Zero margem para erro.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 JWT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seguro com tokens. Stateless, escalável e self-contained. Middleware valida todas as rotas.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VENDAS COM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venda, itens e baixa estoque atomicamente. Se algo falha, tudo é revertido.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DE OURO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Sempre hasheie senhas com bcrypt  •  Use transactions para operações interdependentes  •  TESTE muito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B4BC04E-6727-48FA-58B7-83CFF4AD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46BFE20-C6E6-34B6-333D-9049A360C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33" y="1645920"/>
            <a:ext cx="5513486" cy="332437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E395B29-2665-B382-71F8-99FF4A13D391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9AE927F-BE36-55B6-2ACF-2CDD423B7450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DD4258A-ADD0-7A0A-3180-00ACE683E54D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FA654CF-13FE-D47C-1458-5861A8DF6C4E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0BC3EA2-A31D-CC48-7821-703172CAB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943" y="222957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9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9F0F400-2BB6-AE12-2C0B-B5514C70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63962"/>
            <a:ext cx="6498696" cy="247290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330EA2F-9454-C117-7098-964ABF3EC2AA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3AF6E90-0530-1CEB-39D6-2C14DF9A740D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66B881B-112A-6509-3F43-A3E8BCD08DB4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20C7BFC-0D40-3910-3FD7-6FDA3715F66C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de Autenticação</a:t>
            </a:r>
            <a:endParaRPr lang="en-US" sz="26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A21CBAE-C666-8399-2B6F-2B855EAB5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888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FB59EE3-E73E-889D-5A57-E5BD8721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824" y="1703977"/>
            <a:ext cx="3736191" cy="326869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ECCD6F9-40B4-7F7F-050F-B09424A2761B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ADDAA35-0446-F66C-015A-74611052B35A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03D99B3-4481-B1FB-CA11-1E4AEB3A48EE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3ADF3CE-E5DC-23B9-2F2C-344656F77FEF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Transations do Prisma – Se </a:t>
            </a: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falhar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EFD27DB-C834-20FF-BF8D-2BDB74776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657" y="29435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504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18BAE-570D-CD34-ED67-92A22DEC4D0F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08C2B-375D-C7B8-1B6B-37C20AEC2224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8DCBDF-D775-371E-80C4-B8EC3E6B0226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20806-F2A2-6D45-9F20-B3709A566F4B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dados por data</a:t>
            </a:r>
            <a:endParaRPr lang="en-US" sz="26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41823546-B7CC-C248-9C8D-33C60572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98" y="2011680"/>
            <a:ext cx="5819503" cy="219013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E7D3832-6ADE-E579-5F4A-5D582A1E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173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A63ACB9-47DB-9036-BA82-936F901A2124}"/>
              </a:ext>
            </a:extLst>
          </p:cNvPr>
          <p:cNvSpPr txBox="1"/>
          <p:nvPr/>
        </p:nvSpPr>
        <p:spPr>
          <a:xfrm>
            <a:off x="640080" y="2011680"/>
            <a:ext cx="697556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backend/controllers/auth.controller.js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backend/controllers/sale.controller.js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backend/controllers/financial.controller.js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backend/middleware/auth.middleware.js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frontend/src/pages/</a:t>
            </a:r>
            <a:r>
              <a:rPr lang="pt-BR" b="0" i="0" dirty="0" err="1">
                <a:effectLst/>
                <a:latin typeface="Monaspace Neon"/>
              </a:rPr>
              <a:t>sales</a:t>
            </a:r>
            <a:r>
              <a:rPr lang="pt-BR" b="0" i="0" dirty="0">
                <a:effectLst/>
                <a:latin typeface="Monaspace Neon"/>
              </a:rPr>
              <a:t>/</a:t>
            </a:r>
            <a:r>
              <a:rPr lang="pt-BR" b="0" i="0" dirty="0" err="1">
                <a:effectLst/>
                <a:latin typeface="Monaspace Neon"/>
              </a:rPr>
              <a:t>Sales.jsx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frontend/src/pages/financial/</a:t>
            </a:r>
            <a:r>
              <a:rPr lang="pt-BR" b="0" i="0" dirty="0" err="1">
                <a:effectLst/>
                <a:latin typeface="Monaspace Neon"/>
              </a:rPr>
              <a:t>Financial.jsx</a:t>
            </a:r>
            <a:endParaRPr lang="pt-BR" b="0" i="0" dirty="0">
              <a:effectLst/>
              <a:latin typeface="-apple-system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E22958A-B966-C4B6-6B1B-0170CE5DF1B4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1915CB4-9CE4-4981-2692-177359680E56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 • Full Stack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C7B2F3F-D0B1-0C27-2810-2D12AA1AB2CB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1B8E12-9662-1892-E408-910342ADAF45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ECB18FD-8096-1B0C-CACD-6C9E9127B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232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5 • Product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codar e por quê.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RICE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 × Impact × Confidence / Effort.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(score 20) ganhou de Multi-idioma (score 0.9).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"Como vendedor, eu quero realizar vendas rapidamente para atender clientes com agilidade."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HABILIDADES ESSENCIAIS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adaptável  •  Dados &gt; Opiniões  •  Aprenda a dizer NÃO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54DE5DD-E021-4F92-DD0D-C8D72DBA7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568D835D-A02B-3E00-02FD-A49FA7FE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6" y="1774347"/>
            <a:ext cx="8034411" cy="116479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BE156D6-1D5B-9C98-8136-F1B6653D7908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F1A5632-8664-F8BF-90B3-1681210CD6D8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5 • Product Management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0766FEA-9364-9DD8-879B-F525ACEF2D5B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2318323-25B7-E700-DD89-A1B1E22CD6AB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real: Feature de Dashboard</a:t>
            </a:r>
            <a:endParaRPr lang="en-US" sz="2600" dirty="0"/>
          </a:p>
        </p:txBody>
      </p:sp>
      <p:pic>
        <p:nvPicPr>
          <p:cNvPr id="9" name="Imagem 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14E6494-497A-7432-60D8-5285ED8AA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6" y="3516271"/>
            <a:ext cx="8034411" cy="1324214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768BDADA-85FB-1A59-9760-6FE39E1333B4}"/>
              </a:ext>
            </a:extLst>
          </p:cNvPr>
          <p:cNvSpPr/>
          <p:nvPr/>
        </p:nvSpPr>
        <p:spPr>
          <a:xfrm>
            <a:off x="432874" y="299910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compara com: Feature de Multi-idioma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2341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126000F-F3BB-C96D-45AC-51F1A73F124D}"/>
              </a:ext>
            </a:extLst>
          </p:cNvPr>
          <p:cNvSpPr txBox="1"/>
          <p:nvPr/>
        </p:nvSpPr>
        <p:spPr>
          <a:xfrm>
            <a:off x="1645920" y="1727180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pt-BR" b="0" i="0" dirty="0">
                <a:effectLst/>
                <a:latin typeface="Monaspace Neon"/>
              </a:rPr>
              <a:t>Como vendedor</a:t>
            </a:r>
          </a:p>
          <a:p>
            <a:pPr algn="l" latinLnBrk="0">
              <a:buNone/>
            </a:pPr>
            <a:r>
              <a:rPr lang="pt-BR" b="0" i="0" dirty="0">
                <a:effectLst/>
                <a:latin typeface="Monaspace Neon"/>
              </a:rPr>
              <a:t>Eu quero realizar vendas rapidamente</a:t>
            </a:r>
          </a:p>
          <a:p>
            <a:pPr algn="l" latinLnBrk="0">
              <a:buNone/>
            </a:pPr>
            <a:r>
              <a:rPr lang="pt-BR" b="0" i="0" dirty="0">
                <a:effectLst/>
                <a:latin typeface="Monaspace Neon"/>
              </a:rPr>
              <a:t>Para que eu possa atender clientes com agilidade</a:t>
            </a:r>
          </a:p>
          <a:p>
            <a:pPr algn="l" latinLnBrk="0">
              <a:buNone/>
            </a:pPr>
            <a:endParaRPr lang="pt-BR" b="0" i="0" dirty="0">
              <a:effectLst/>
              <a:latin typeface="Monaspace Neon"/>
            </a:endParaRPr>
          </a:p>
          <a:p>
            <a:pPr algn="l" latinLnBrk="0">
              <a:buNone/>
            </a:pPr>
            <a:r>
              <a:rPr lang="pt-BR" b="1" i="0" dirty="0">
                <a:effectLst/>
                <a:latin typeface="Monaspace Neon"/>
              </a:rPr>
              <a:t>Critérios de Aceitação: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Adicionar produtos ao carrinho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Calcular total automaticamente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Aplicar desconto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Selecionar forma de pagamento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Baixar estoque automaticamente</a:t>
            </a:r>
          </a:p>
          <a:p>
            <a:pPr marL="285750" indent="-285750" algn="l" latinLnBrk="0">
              <a:buFont typeface="Wingdings" panose="05000000000000000000" pitchFamily="2" charset="2"/>
              <a:buChar char="ü"/>
            </a:pPr>
            <a:r>
              <a:rPr lang="pt-BR" b="0" i="0" dirty="0">
                <a:effectLst/>
                <a:latin typeface="Monaspace Neon"/>
              </a:rPr>
              <a:t>Gerar número sequencial de venda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FE75577-7772-BB5F-9EC6-98611FF4E760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F68EAEA-FD57-42C1-E182-AB869ADB7F84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5 • Product Management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FBD7B28-0EA2-A27C-E225-6F8640BD49E2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CC32C72-0504-D4AB-D35C-65992AB1B393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Pensando</a:t>
            </a: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sobre</a:t>
            </a: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Processo</a:t>
            </a: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 de </a:t>
            </a: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cs typeface="Segoe UI" pitchFamily="34" charset="-120"/>
              </a:rPr>
              <a:t>venda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0597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E1B5EB6-06BB-8732-1FC8-BAE8EF2B849F}"/>
              </a:ext>
            </a:extLst>
          </p:cNvPr>
          <p:cNvSpPr txBox="1"/>
          <p:nvPr/>
        </p:nvSpPr>
        <p:spPr>
          <a:xfrm>
            <a:off x="927462" y="1950146"/>
            <a:ext cx="4572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docs/PRODUCT_ROADMAP.md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docs/USER_STORIES.md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docs/REQUIREMENTS.md</a:t>
            </a:r>
            <a:endParaRPr lang="pt-BR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docs/METRICS.md</a:t>
            </a:r>
            <a:endParaRPr lang="pt-BR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7C1673A-DC92-9F2F-6BCA-D07DC49FD9D7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C05A35A-66B1-D1D5-FEE3-09C9598093AC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5 • Product Management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07D9FF1-7B86-7895-4230-B9301CC7B268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11AC8D1-A781-5623-4DC1-15D442386E97}"/>
              </a:ext>
            </a:extLst>
          </p:cNvPr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2033120-5FD0-B4A2-AEF3-6A7BE1169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788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6 • QA &amp;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Viana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Beleza e qualidade. Lado a lado.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Psicologia das cores: Roxo (confiança), Verde (sucesso), Vermelho (erro). Componentes padronizados.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TESTES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Caminho feliz, validações, erros e edge cases. 5-10 casos por funcionalidade.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é mais  •  Pense como usuário  •  10 Heurísticas de Nielsen</a:t>
            </a:r>
            <a:endParaRPr lang="en-US" sz="110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9436668-16D5-79B6-3217-69CBEAE6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2C1DAD-2250-033F-9873-FE6AF515B73A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05C984-870A-6761-C85D-420B4D273086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6 • QA &amp; Design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1064B3-7332-0771-CF39-5A5A58D5AB84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Viana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D24F47-EB39-36FA-0B76-2FE656CA956D}"/>
              </a:ext>
            </a:extLst>
          </p:cNvPr>
          <p:cNvSpPr/>
          <p:nvPr/>
        </p:nvSpPr>
        <p:spPr>
          <a:xfrm>
            <a:off x="640080" y="1188720"/>
            <a:ext cx="4349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</a:t>
            </a: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2600" b="1" dirty="0" err="1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Consistência</a:t>
            </a:r>
            <a:endParaRPr lang="en-US" sz="26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68D40015-50D6-B8FC-1A9A-8A00A5C1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46" y="1896926"/>
            <a:ext cx="5579427" cy="160065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200A553-66A8-1521-1A3F-EEB5D2235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072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F20CE79-159F-03A6-5A5F-3B65B8D255BA}"/>
              </a:ext>
            </a:extLst>
          </p:cNvPr>
          <p:cNvSpPr txBox="1"/>
          <p:nvPr/>
        </p:nvSpPr>
        <p:spPr>
          <a:xfrm>
            <a:off x="4767943" y="3454396"/>
            <a:ext cx="3833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TESTE 4: </a:t>
            </a:r>
            <a:r>
              <a:rPr lang="pt-BR" sz="1600" b="0" i="0" dirty="0">
                <a:effectLst/>
                <a:latin typeface="Monaspace Neon"/>
              </a:rPr>
              <a:t>CPF inválido</a:t>
            </a:r>
          </a:p>
          <a:p>
            <a:pPr algn="l" latinLnBrk="0">
              <a:buNone/>
            </a:pPr>
            <a:r>
              <a:rPr lang="pt-BR" sz="1600" b="0" i="0" dirty="0">
                <a:effectLst/>
                <a:latin typeface="Monaspace Neon"/>
              </a:rPr>
              <a:t>- Digitar "111.111.111-11"</a:t>
            </a:r>
          </a:p>
          <a:p>
            <a:pPr algn="l">
              <a:buNone/>
            </a:pPr>
            <a:r>
              <a:rPr lang="pt-BR" sz="1600" b="1" i="0" dirty="0">
                <a:effectLst/>
                <a:latin typeface="Monaspace Neon"/>
              </a:rPr>
              <a:t>Esperado: </a:t>
            </a:r>
            <a:r>
              <a:rPr lang="pt-BR" sz="1600" b="0" i="0" dirty="0">
                <a:effectLst/>
                <a:latin typeface="Monaspace Neon"/>
              </a:rPr>
              <a:t>Validação mostra "CPF inválido"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0F00C9-614E-E770-9077-668064A0B078}"/>
              </a:ext>
            </a:extLst>
          </p:cNvPr>
          <p:cNvSpPr txBox="1"/>
          <p:nvPr/>
        </p:nvSpPr>
        <p:spPr>
          <a:xfrm>
            <a:off x="378823" y="1788177"/>
            <a:ext cx="38339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TESTE 1: </a:t>
            </a:r>
            <a:r>
              <a:rPr lang="pt-BR" sz="1600" b="0" i="0" dirty="0">
                <a:effectLst/>
                <a:latin typeface="Monaspace Neon"/>
              </a:rPr>
              <a:t>Criar cliente PF com sucesso</a:t>
            </a:r>
          </a:p>
          <a:p>
            <a:pPr algn="l" latinLnBrk="0">
              <a:buNone/>
            </a:pPr>
            <a:r>
              <a:rPr lang="pt-BR" sz="1600" b="0" i="0" dirty="0">
                <a:effectLst/>
                <a:latin typeface="Monaspace Neon"/>
              </a:rPr>
              <a:t>- Preencher todos os campos corretamente</a:t>
            </a:r>
          </a:p>
          <a:p>
            <a:pPr algn="l" latinLnBrk="0">
              <a:buNone/>
            </a:pPr>
            <a:r>
              <a:rPr lang="pt-BR" sz="1600" b="0" i="0" dirty="0">
                <a:effectLst/>
                <a:latin typeface="Monaspace Neon"/>
              </a:rPr>
              <a:t>- Clicar em Salvar</a:t>
            </a:r>
          </a:p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Esperado: </a:t>
            </a:r>
            <a:r>
              <a:rPr lang="pt-BR" sz="1600" b="0" i="0" dirty="0">
                <a:effectLst/>
                <a:latin typeface="Monaspace Neon"/>
              </a:rPr>
              <a:t>Modal fecha, toast verde, cliente na lista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329DC5-EA2C-0A86-DDB6-2FD0F3B385A0}"/>
              </a:ext>
            </a:extLst>
          </p:cNvPr>
          <p:cNvSpPr txBox="1"/>
          <p:nvPr/>
        </p:nvSpPr>
        <p:spPr>
          <a:xfrm>
            <a:off x="378823" y="3253874"/>
            <a:ext cx="38339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TESTE 2: </a:t>
            </a:r>
            <a:r>
              <a:rPr lang="pt-BR" sz="1600" b="0" i="0" dirty="0">
                <a:effectLst/>
                <a:latin typeface="Monaspace Neon"/>
              </a:rPr>
              <a:t>CPF duplicado</a:t>
            </a:r>
          </a:p>
          <a:p>
            <a:pPr algn="l" latinLnBrk="0">
              <a:buNone/>
            </a:pPr>
            <a:r>
              <a:rPr lang="pt-BR" sz="1600" b="0" i="0" dirty="0">
                <a:effectLst/>
                <a:latin typeface="Monaspace Neon"/>
              </a:rPr>
              <a:t>- Tentar criar cliente com CPF já existente</a:t>
            </a:r>
          </a:p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Esperado: </a:t>
            </a:r>
            <a:r>
              <a:rPr lang="pt-BR" sz="1600" b="0" i="0" dirty="0">
                <a:effectLst/>
                <a:latin typeface="Monaspace Neon"/>
              </a:rPr>
              <a:t>Erro "CPF já cadastrado", modal permanece aberto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FA13F97-5CF5-43BC-F84E-BA411E7FCDD6}"/>
              </a:ext>
            </a:extLst>
          </p:cNvPr>
          <p:cNvSpPr txBox="1"/>
          <p:nvPr/>
        </p:nvSpPr>
        <p:spPr>
          <a:xfrm>
            <a:off x="4767943" y="1759749"/>
            <a:ext cx="39161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TESTE 3: </a:t>
            </a:r>
            <a:r>
              <a:rPr lang="pt-BR" sz="1600" b="0" i="0" dirty="0">
                <a:effectLst/>
                <a:latin typeface="Monaspace Neon"/>
              </a:rPr>
              <a:t>Campos obrigatórios vazios</a:t>
            </a:r>
          </a:p>
          <a:p>
            <a:pPr algn="l" latinLnBrk="0">
              <a:buNone/>
            </a:pPr>
            <a:r>
              <a:rPr lang="pt-BR" sz="1600" b="0" i="0" dirty="0">
                <a:effectLst/>
                <a:latin typeface="Monaspace Neon"/>
              </a:rPr>
              <a:t>- Deixar nome e CPF vazios</a:t>
            </a:r>
          </a:p>
          <a:p>
            <a:pPr algn="l" latinLnBrk="0">
              <a:buNone/>
            </a:pPr>
            <a:r>
              <a:rPr lang="pt-BR" sz="1600" b="1" i="0" dirty="0">
                <a:effectLst/>
                <a:latin typeface="Monaspace Neon"/>
              </a:rPr>
              <a:t>Esperado: </a:t>
            </a:r>
            <a:r>
              <a:rPr lang="pt-BR" sz="1600" b="0" i="0" dirty="0">
                <a:effectLst/>
                <a:latin typeface="Monaspace Neon"/>
              </a:rPr>
              <a:t>Campos ficam vermelhos, não envia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A57DBE47-FA48-8F1C-E400-0F93A048A774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31CC9CE-7FC3-6555-D96D-A46285DB9817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6 • QA &amp; Design</a:t>
            </a:r>
            <a:endParaRPr lang="en-US" sz="1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E7C8DDB-CBC2-7225-9F6E-826DE287FFDF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Viana</a:t>
            </a:r>
            <a:endParaRPr lang="en-US" sz="20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B43C168-DDFD-36FC-28D4-B7BE30FCE42F}"/>
              </a:ext>
            </a:extLst>
          </p:cNvPr>
          <p:cNvSpPr/>
          <p:nvPr/>
        </p:nvSpPr>
        <p:spPr>
          <a:xfrm>
            <a:off x="640080" y="1188720"/>
            <a:ext cx="4349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</a:t>
            </a:r>
            <a:endParaRPr lang="en-US" sz="26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7BB23A8-26BA-3E73-DB77-B019DE0F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028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ACC05C8F-1DC2-1F57-B0DD-BE574D202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487021" cy="173207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A156FF9-CA4A-2800-5C24-6F30E822B8F5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2F74055-F4DE-386D-2AE8-D7A397041050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6 • QA &amp; Design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BCFB162-07D9-9B92-6314-17B880CBFBFF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Viana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2510EBA-6682-8853-1501-00B0C58FAA1C}"/>
              </a:ext>
            </a:extLst>
          </p:cNvPr>
          <p:cNvSpPr/>
          <p:nvPr/>
        </p:nvSpPr>
        <p:spPr>
          <a:xfrm>
            <a:off x="640080" y="1188720"/>
            <a:ext cx="4349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Automatizados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FD23631-CA6A-7678-E262-DB4328C2F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857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FEB20F9-5ABB-C222-2D6C-64769F310F38}"/>
              </a:ext>
            </a:extLst>
          </p:cNvPr>
          <p:cNvSpPr txBox="1"/>
          <p:nvPr/>
        </p:nvSpPr>
        <p:spPr>
          <a:xfrm>
            <a:off x="914400" y="2111718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frontend/src/index.css</a:t>
            </a:r>
            <a:r>
              <a:rPr lang="pt-BR" b="0" i="0" dirty="0">
                <a:effectLst/>
                <a:latin typeface="-apple-system"/>
              </a:rPr>
              <a:t> (Design system)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docs/UI_GUIDELINES.md</a:t>
            </a:r>
            <a:r>
              <a:rPr lang="pt-BR" b="0" i="0" dirty="0">
                <a:effectLst/>
                <a:latin typeface="-apple-system"/>
              </a:rPr>
              <a:t> (Guia de design)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b="0" i="0" dirty="0">
                <a:effectLst/>
                <a:latin typeface="Monaspace Neon"/>
              </a:rPr>
              <a:t>docs/TEST_PLAN.md</a:t>
            </a:r>
            <a:r>
              <a:rPr lang="pt-BR" b="0" i="0" dirty="0">
                <a:effectLst/>
                <a:latin typeface="-apple-system"/>
              </a:rPr>
              <a:t> (Plano de testes)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040CA2E-E019-5F00-A8B1-3E7C2E8041F8}"/>
              </a:ext>
            </a:extLst>
          </p:cNvPr>
          <p:cNvSpPr/>
          <p:nvPr/>
        </p:nvSpPr>
        <p:spPr>
          <a:xfrm>
            <a:off x="640080" y="36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2C5C98C-41A6-78EF-C842-B7F890A16982}"/>
              </a:ext>
            </a:extLst>
          </p:cNvPr>
          <p:cNvSpPr/>
          <p:nvPr/>
        </p:nvSpPr>
        <p:spPr>
          <a:xfrm>
            <a:off x="118872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6 • QA &amp; Design</a:t>
            </a:r>
            <a:endParaRPr lang="en-US" sz="1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40ADF3A-A4D1-B336-9BBA-B304D68F0318}"/>
              </a:ext>
            </a:extLst>
          </p:cNvPr>
          <p:cNvSpPr/>
          <p:nvPr/>
        </p:nvSpPr>
        <p:spPr>
          <a:xfrm>
            <a:off x="11887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Najla Viana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D5302BE-9767-5AAF-188F-77F2168AFD4E}"/>
              </a:ext>
            </a:extLst>
          </p:cNvPr>
          <p:cNvSpPr/>
          <p:nvPr/>
        </p:nvSpPr>
        <p:spPr>
          <a:xfrm>
            <a:off x="640080" y="1188720"/>
            <a:ext cx="43499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</a:t>
            </a:r>
            <a:endParaRPr lang="en-US" sz="26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EB8AFC6-A299-FB2E-6263-E02D79C98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180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71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RESULTADO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ERP completo e profissional.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clientes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 e PJ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788920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Produtos e estoque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completo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00600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PDV funcional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Ponto de Venda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4630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12280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874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Receitas e despesas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NFe com DANFE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788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 fiscal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3774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78892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2788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e Excel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0060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Multi-empresa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788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Escalável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237744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D2D3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1228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788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</a:t>
            </a:r>
            <a:endParaRPr lang="en-US" sz="900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2E9649D4-0004-55D2-4CFE-7428A930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405448" y="2057401"/>
            <a:ext cx="333103" cy="45719"/>
          </a:xfrm>
          <a:prstGeom prst="rect">
            <a:avLst/>
          </a:prstGeom>
          <a:solidFill>
            <a:srgbClr val="0071E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Michael Santos   RA: 924202333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272491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Rubens Neto   RA: 924101145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2980944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Felipe Gonzaga   RA: 924108381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236976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1D1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Thaynara Ribeiro   RA: 925119803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349300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Eliseu Junior   RA: 917122254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3749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Larissa Oliveira   RA: 925203274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0050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Najla Cardeal   RA: 924113786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Uninove  •  Tecnologia em Banco de Dados  •  2025</a:t>
            </a: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B5B365-F852-EC5F-1D07-2CBA5AE51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36008"/>
            <a:ext cx="1149532" cy="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1257</Words>
  <Application>Microsoft Office PowerPoint</Application>
  <PresentationFormat>Apresentação na tela (16:9)</PresentationFormat>
  <Paragraphs>272</Paragraphs>
  <Slides>33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0" baseType="lpstr">
      <vt:lpstr>-apple-system</vt:lpstr>
      <vt:lpstr>Arial</vt:lpstr>
      <vt:lpstr>Monaspace Neon</vt:lpstr>
      <vt:lpstr>Segoe UI</vt:lpstr>
      <vt:lpstr>Segoe UI Light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TudoGestão+ Podcast</dc:title>
  <dc:subject>Do Zero ao ERP Completo</dc:subject>
  <dc:creator>michaelsantos@uni9.edu.br</dc:creator>
  <cp:lastModifiedBy>Michael Oliveira</cp:lastModifiedBy>
  <cp:revision>4</cp:revision>
  <dcterms:created xsi:type="dcterms:W3CDTF">2025-12-06T17:14:47Z</dcterms:created>
  <dcterms:modified xsi:type="dcterms:W3CDTF">2025-12-09T01:14:08Z</dcterms:modified>
</cp:coreProperties>
</file>